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Crimson Pro SemiBold"/>
      <p:regular r:id="rId201314"/>
    </p:embeddedFont>
    <p:embeddedFont>
      <p:font typeface="Heebo"/>
      <p:regular r:id="rId201315"/>
    </p:embeddedFont>
    <p:embeddedFont>
      <p:font typeface="Heeb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368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Design and Implementation of a Database Management System for Faculty Workload and Timetable Management System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2831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1475" y="2360712"/>
            <a:ext cx="1360156" cy="251420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691" y="2420243"/>
            <a:ext cx="132255" cy="13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9024" y="2413555"/>
            <a:ext cx="157297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DBMS PROJECT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2798167"/>
            <a:ext cx="331630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Academic B.Tech database design project implementing a fully normalized relational schema for managing faculty schedules, course assignments, and teaching workload across university departments.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7542" y="2360712"/>
            <a:ext cx="612859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86758" y="2413555"/>
            <a:ext cx="102401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SCOPE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87542" y="2798167"/>
            <a:ext cx="3429113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 Core Entities: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Department, Faculty, Course, Section, Room, Timetable, Workload — interconnected through well-defined foreign key relationships and referential integrity constraints.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6418" y="2360712"/>
            <a:ext cx="873103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5634" y="2413555"/>
            <a:ext cx="128425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6418" y="2798167"/>
            <a:ext cx="331630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Schema designed for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MySQL 5.7+ / PostgreSQL 10+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normalized to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Third Normal Form (3NF)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eliminate redundancy and ensure data consistency across all tables.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4456113"/>
            <a:ext cx="3622882" cy="6614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6769" y="5282902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ER Diagram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26769" y="5640586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Entities, attributes, and 1:N cardinality relationships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357" y="4456113"/>
            <a:ext cx="3622882" cy="6614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49651" y="5282902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Relational Schema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449651" y="5640586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SQL DDL definitions with PK, FK, and constraints</a:t>
            </a:r>
            <a:endParaRPr lang="en-US" sz="13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239" y="4456113"/>
            <a:ext cx="3622882" cy="6614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72533" y="5282902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Sample Data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072533" y="5640586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Filled-in RDBMS tables with realistic university records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830" y="471388"/>
            <a:ext cx="6072036" cy="5549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5201"/>
            <a:ext cx="519298" cy="97036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772" y="518220"/>
            <a:ext cx="50997" cy="50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6268" y="515544"/>
            <a:ext cx="975792" cy="5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SECTION 2 OF 3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661475" y="609340"/>
            <a:ext cx="1086874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 Design — Relational Schema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61475" y="842930"/>
            <a:ext cx="11478330" cy="7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RDBMS Implementation</a:t>
            </a:r>
            <a:pPr algn="l" indent="0" marL="0">
              <a:lnSpc>
                <a:spcPct val="92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MySQL / PostgreSQL DDL with Primary Keys, Foreign Keys, and Integrity Constraints</a:t>
            </a:r>
            <a:endParaRPr lang="en-US" sz="500" dirty="0"/>
          </a:p>
        </p:txBody>
      </p:sp>
      <p:sp>
        <p:nvSpPr>
          <p:cNvPr id="7" name="Text 4"/>
          <p:cNvSpPr/>
          <p:nvPr/>
        </p:nvSpPr>
        <p:spPr>
          <a:xfrm>
            <a:off x="661475" y="961796"/>
            <a:ext cx="535658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Department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661475" y="1088727"/>
            <a:ext cx="5356587" cy="637580"/>
          </a:xfrm>
          <a:prstGeom prst="roundRect">
            <a:avLst>
              <a:gd name="adj" fmla="val 1502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738070" y="1152525"/>
            <a:ext cx="5203397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Department(
  Dept_ID   INT PRIMARY KEY,
  Dept_Name VARCHAR(100) NOT NULL
)
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661475" y="1754455"/>
            <a:ext cx="535658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Faculty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661475" y="1881386"/>
            <a:ext cx="5356587" cy="1147564"/>
          </a:xfrm>
          <a:prstGeom prst="roundRect">
            <a:avLst>
              <a:gd name="adj" fmla="val 834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738070" y="1945184"/>
            <a:ext cx="5203397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Faculty(
  Faculty_ID   INT PRIMARY KEY,
  Faculty_Name VARCHAR(100) NOT NULL,
  Email        VARCHAR(100) UNIQUE NOT NULL,
  Designation  VARCHAR(50),
  Dept_ID      INT NOT NULL,
  FOREIGN KEY (Dept_ID)
    REFERENCES Department(Dept_ID)
)
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661475" y="3057097"/>
            <a:ext cx="535658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Course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661475" y="3184029"/>
            <a:ext cx="5356587" cy="1045567"/>
          </a:xfrm>
          <a:prstGeom prst="roundRect">
            <a:avLst>
              <a:gd name="adj" fmla="val 916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738070" y="3247827"/>
            <a:ext cx="5203397" cy="917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Course(
  Course_ID   INT PRIMARY KEY,
  Course_Name VARCHAR(100) NOT NULL,
  Credits     INT,
  Dept_ID     INT NOT NULL,
  FOREIGN KEY (Dept_ID)
    REFERENCES Department(Dept_ID)
)
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661475" y="4257744"/>
            <a:ext cx="535658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Section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661475" y="4384675"/>
            <a:ext cx="5356587" cy="1045567"/>
          </a:xfrm>
          <a:prstGeom prst="roundRect">
            <a:avLst>
              <a:gd name="adj" fmla="val 916"/>
            </a:avLst>
          </a:prstGeom>
          <a:solidFill>
            <a:srgbClr val="F2F2F2"/>
          </a:solidFill>
          <a:ln/>
        </p:spPr>
      </p:sp>
      <p:sp>
        <p:nvSpPr>
          <p:cNvPr id="18" name="Text 15"/>
          <p:cNvSpPr/>
          <p:nvPr/>
        </p:nvSpPr>
        <p:spPr>
          <a:xfrm>
            <a:off x="738070" y="4448473"/>
            <a:ext cx="5203397" cy="917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Section(
  Section_ID   INT PRIMARY KEY,
  Section_Name VARCHAR(50) NOT NULL,
  Semester     INT,
  Course_ID    INT NOT NULL,
  FOREIGN KEY (Course_ID)
    REFERENCES Course(Course_ID)
)
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6179983" y="961796"/>
            <a:ext cx="535658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Room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6179983" y="1088727"/>
            <a:ext cx="5356587" cy="841573"/>
          </a:xfrm>
          <a:prstGeom prst="roundRect">
            <a:avLst>
              <a:gd name="adj" fmla="val 1138"/>
            </a:avLst>
          </a:prstGeom>
          <a:solidFill>
            <a:srgbClr val="F2F2F2"/>
          </a:solidFill>
          <a:ln/>
        </p:spPr>
      </p:sp>
      <p:sp>
        <p:nvSpPr>
          <p:cNvPr id="21" name="Text 18"/>
          <p:cNvSpPr/>
          <p:nvPr/>
        </p:nvSpPr>
        <p:spPr>
          <a:xfrm>
            <a:off x="6256578" y="1152525"/>
            <a:ext cx="5203397" cy="713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Room(
  Room_ID   INT PRIMARY KEY,
  Room_Name VARCHAR(50) NOT NULL,
  Capacity  INT,
  Building  VARCHAR(50)
)
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6179983" y="1958448"/>
            <a:ext cx="535658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Timetable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6179983" y="2085380"/>
            <a:ext cx="5356587" cy="2065536"/>
          </a:xfrm>
          <a:prstGeom prst="roundRect">
            <a:avLst>
              <a:gd name="adj" fmla="val 464"/>
            </a:avLst>
          </a:prstGeom>
          <a:solidFill>
            <a:srgbClr val="F2F2F2"/>
          </a:solidFill>
          <a:ln/>
        </p:spPr>
      </p:sp>
      <p:sp>
        <p:nvSpPr>
          <p:cNvPr id="24" name="Text 21"/>
          <p:cNvSpPr/>
          <p:nvPr/>
        </p:nvSpPr>
        <p:spPr>
          <a:xfrm>
            <a:off x="6256578" y="2149177"/>
            <a:ext cx="5203397" cy="193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Timetable(
  Schedule_ID INT PRIMARY KEY,
  Faculty_ID  INT NOT NULL,
  Course_ID   INT NOT NULL,
  Section_ID  INT NOT NULL,
  Room_ID     INT NOT NULL,
  Day         VARCHAR(20),
  Start_Time  TIME,
  End_Time    TIME,
  FOREIGN KEY (Faculty_ID)
    REFERENCES Faculty(Faculty_ID),
  FOREIGN KEY (Course_ID)
    REFERENCES Course(Course_ID),
  FOREIGN KEY (Section_ID)
    REFERENCES Section(Section_ID),
  FOREIGN KEY (Room_ID)
    REFERENCES Room(Room_ID)
)
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6179983" y="4179063"/>
            <a:ext cx="535658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Workload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6179983" y="4305995"/>
            <a:ext cx="5356587" cy="1351558"/>
          </a:xfrm>
          <a:prstGeom prst="roundRect">
            <a:avLst>
              <a:gd name="adj" fmla="val 708"/>
            </a:avLst>
          </a:prstGeom>
          <a:solidFill>
            <a:srgbClr val="F2F2F2"/>
          </a:solidFill>
          <a:ln/>
        </p:spPr>
      </p:sp>
      <p:sp>
        <p:nvSpPr>
          <p:cNvPr id="27" name="Text 24"/>
          <p:cNvSpPr/>
          <p:nvPr/>
        </p:nvSpPr>
        <p:spPr>
          <a:xfrm>
            <a:off x="6256578" y="4369792"/>
            <a:ext cx="5203397" cy="1223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Workload(
  Workload_ID    INT PRIMARY KEY,
  Faculty_ID     INT NOT NULL,
  Course_ID      INT NOT NULL,
  Hours_Per_Week INT,
  Semester       INT,
  FOREIGN KEY (Faculty_ID)
    REFERENCES Faculty(Faculty_ID),
  FOREIGN KEY (Course_ID)
    REFERENCES Course(Course_ID)
)
</a:t>
            </a:r>
            <a:endParaRPr lang="en-US" sz="500" dirty="0"/>
          </a:p>
        </p:txBody>
      </p:sp>
      <p:sp>
        <p:nvSpPr>
          <p:cNvPr id="28" name="Shape 25"/>
          <p:cNvSpPr/>
          <p:nvPr/>
        </p:nvSpPr>
        <p:spPr>
          <a:xfrm>
            <a:off x="661475" y="5712916"/>
            <a:ext cx="2698682" cy="312638"/>
          </a:xfrm>
          <a:prstGeom prst="roundRect">
            <a:avLst>
              <a:gd name="adj" fmla="val 3063"/>
            </a:avLst>
          </a:prstGeom>
          <a:solidFill>
            <a:srgbClr val="F2EEEE"/>
          </a:solidFill>
          <a:ln/>
        </p:spPr>
      </p:sp>
      <p:sp>
        <p:nvSpPr>
          <p:cNvPr id="29" name="Text 26"/>
          <p:cNvSpPr/>
          <p:nvPr/>
        </p:nvSpPr>
        <p:spPr>
          <a:xfrm>
            <a:off x="725271" y="5776714"/>
            <a:ext cx="2571090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PK: INT Indexing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25271" y="5891113"/>
            <a:ext cx="2571090" cy="7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primary keys use INT for efficient B-tree indexing and fast lookup performance</a:t>
            </a:r>
            <a:endParaRPr lang="en-US" sz="500" dirty="0"/>
          </a:p>
        </p:txBody>
      </p:sp>
      <p:sp>
        <p:nvSpPr>
          <p:cNvPr id="31" name="Shape 28"/>
          <p:cNvSpPr/>
          <p:nvPr/>
        </p:nvSpPr>
        <p:spPr>
          <a:xfrm>
            <a:off x="3384763" y="5712916"/>
            <a:ext cx="2698782" cy="312638"/>
          </a:xfrm>
          <a:prstGeom prst="roundRect">
            <a:avLst>
              <a:gd name="adj" fmla="val 3063"/>
            </a:avLst>
          </a:prstGeom>
          <a:solidFill>
            <a:srgbClr val="F2EEEE"/>
          </a:solidFill>
          <a:ln/>
        </p:spPr>
      </p:sp>
      <p:sp>
        <p:nvSpPr>
          <p:cNvPr id="32" name="Text 29"/>
          <p:cNvSpPr/>
          <p:nvPr/>
        </p:nvSpPr>
        <p:spPr>
          <a:xfrm>
            <a:off x="3448559" y="5776714"/>
            <a:ext cx="2571190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FK: Referential Integrity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3448559" y="5891113"/>
            <a:ext cx="2571190" cy="7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Foreign keys enforce consistency — no orphaned records across any related table</a:t>
            </a:r>
            <a:endParaRPr lang="en-US" sz="500" dirty="0"/>
          </a:p>
        </p:txBody>
      </p:sp>
      <p:sp>
        <p:nvSpPr>
          <p:cNvPr id="34" name="Shape 31"/>
          <p:cNvSpPr/>
          <p:nvPr/>
        </p:nvSpPr>
        <p:spPr>
          <a:xfrm>
            <a:off x="6108150" y="5712916"/>
            <a:ext cx="2698682" cy="312638"/>
          </a:xfrm>
          <a:prstGeom prst="roundRect">
            <a:avLst>
              <a:gd name="adj" fmla="val 3063"/>
            </a:avLst>
          </a:prstGeom>
          <a:solidFill>
            <a:srgbClr val="F2EEEE"/>
          </a:solidFill>
          <a:ln/>
        </p:spPr>
      </p:sp>
      <p:sp>
        <p:nvSpPr>
          <p:cNvPr id="35" name="Text 32"/>
          <p:cNvSpPr/>
          <p:nvPr/>
        </p:nvSpPr>
        <p:spPr>
          <a:xfrm>
            <a:off x="6171946" y="5776714"/>
            <a:ext cx="2571090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UNIQUE: Email Constraint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6171946" y="5891113"/>
            <a:ext cx="2571090" cy="7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Faculty email enforced UNIQUE to prevent duplicate accounts in the system</a:t>
            </a:r>
            <a:endParaRPr lang="en-US" sz="500" dirty="0"/>
          </a:p>
        </p:txBody>
      </p:sp>
      <p:sp>
        <p:nvSpPr>
          <p:cNvPr id="37" name="Shape 34"/>
          <p:cNvSpPr/>
          <p:nvPr/>
        </p:nvSpPr>
        <p:spPr>
          <a:xfrm>
            <a:off x="8831438" y="5712916"/>
            <a:ext cx="2698782" cy="312638"/>
          </a:xfrm>
          <a:prstGeom prst="roundRect">
            <a:avLst>
              <a:gd name="adj" fmla="val 3063"/>
            </a:avLst>
          </a:prstGeom>
          <a:solidFill>
            <a:srgbClr val="F2EEEE"/>
          </a:solidFill>
          <a:ln/>
        </p:spPr>
      </p:sp>
      <p:sp>
        <p:nvSpPr>
          <p:cNvPr id="38" name="Text 35"/>
          <p:cNvSpPr/>
          <p:nvPr/>
        </p:nvSpPr>
        <p:spPr>
          <a:xfrm>
            <a:off x="8895234" y="5776714"/>
            <a:ext cx="2571190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3NF Normalization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8895234" y="5891113"/>
            <a:ext cx="2571190" cy="7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Schema satisfies Third Normal Form — no transitive dependencies, zero redundancy</a:t>
            </a:r>
            <a:endParaRPr lang="en-US" sz="500" dirty="0"/>
          </a:p>
        </p:txBody>
      </p:sp>
      <p:sp>
        <p:nvSpPr>
          <p:cNvPr id="40" name="Shape 37"/>
          <p:cNvSpPr/>
          <p:nvPr/>
        </p:nvSpPr>
        <p:spPr>
          <a:xfrm>
            <a:off x="661475" y="6050161"/>
            <a:ext cx="10868745" cy="312638"/>
          </a:xfrm>
          <a:prstGeom prst="roundRect">
            <a:avLst>
              <a:gd name="adj" fmla="val 3063"/>
            </a:avLst>
          </a:prstGeom>
          <a:solidFill>
            <a:srgbClr val="F2EEEE"/>
          </a:solidFill>
          <a:ln/>
        </p:spPr>
      </p:sp>
      <p:sp>
        <p:nvSpPr>
          <p:cNvPr id="41" name="Text 38"/>
          <p:cNvSpPr/>
          <p:nvPr/>
        </p:nvSpPr>
        <p:spPr>
          <a:xfrm>
            <a:off x="725271" y="6113959"/>
            <a:ext cx="1074115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Platform Compatibility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725271" y="6228358"/>
            <a:ext cx="10741153" cy="7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Compatible with MySQL 5.7+, PostgreSQL 10+, and standard ANSI SQL RDBMS platforms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3457"/>
            <a:ext cx="642326" cy="119856"/>
          </a:xfrm>
          <a:prstGeom prst="roundRect">
            <a:avLst>
              <a:gd name="adj" fmla="val 7904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801" y="541834"/>
            <a:ext cx="63102" cy="631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453" y="537962"/>
            <a:ext cx="1062606" cy="72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SECTION 3 OF 3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661475" y="653290"/>
            <a:ext cx="10868745" cy="246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Filled-in RDBMS Tables — Sample Data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953481"/>
            <a:ext cx="11478330" cy="93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Realistic university records demonstrating all entity instances and foreign key relationships across the six core tables.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61475" y="1128729"/>
            <a:ext cx="4231971" cy="123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DEPARTMENT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90340"/>
          <a:ext cx="4231971" cy="914400"/>
        </p:xfrm>
        <a:graphic>
          <a:graphicData uri="http://schemas.openxmlformats.org/drawingml/2006/table">
            <a:tbl>
              <a:tblPr/>
              <a:tblGrid>
                <a:gridCol w="1057968"/>
                <a:gridCol w="3174003"/>
              </a:tblGrid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Dept_ID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Dept_Name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Computer Science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Artificial Intelligence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Electronics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Mechanical Engineering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61475" y="2129946"/>
            <a:ext cx="4231971" cy="123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ROOM</a:t>
            </a:r>
            <a:endParaRPr lang="en-US" sz="7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91556"/>
          <a:ext cx="4231971" cy="914400"/>
        </p:xfrm>
        <a:graphic>
          <a:graphicData uri="http://schemas.openxmlformats.org/drawingml/2006/table">
            <a:tbl>
              <a:tblPr/>
              <a:tblGrid>
                <a:gridCol w="846394"/>
                <a:gridCol w="1057968"/>
                <a:gridCol w="846394"/>
                <a:gridCol w="1481215"/>
              </a:tblGrid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Room_Name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Capacity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Building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Lab-1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Block A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Room-201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Block B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Room-301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Block B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Lab-2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Block A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61475" y="3131162"/>
            <a:ext cx="4231971" cy="123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SECTION</a:t>
            </a:r>
            <a:endParaRPr lang="en-US" sz="7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292773"/>
          <a:ext cx="4231971" cy="914400"/>
        </p:xfrm>
        <a:graphic>
          <a:graphicData uri="http://schemas.openxmlformats.org/drawingml/2006/table">
            <a:tbl>
              <a:tblPr/>
              <a:tblGrid>
                <a:gridCol w="931006"/>
                <a:gridCol w="1184980"/>
                <a:gridCol w="931006"/>
                <a:gridCol w="1184980"/>
              </a:tblGrid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Section_ID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Section_Name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Semester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CSE-A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CSE-B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303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AIML-A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304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AIML-B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5092275" y="1128729"/>
            <a:ext cx="6444196" cy="123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FACULTY</a:t>
            </a:r>
            <a:endParaRPr lang="en-US" sz="7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2275" y="1290340"/>
          <a:ext cx="6444196" cy="914400"/>
        </p:xfrm>
        <a:graphic>
          <a:graphicData uri="http://schemas.openxmlformats.org/drawingml/2006/table">
            <a:tbl>
              <a:tblPr/>
              <a:tblGrid>
                <a:gridCol w="966614"/>
                <a:gridCol w="1417761"/>
                <a:gridCol w="1611024"/>
                <a:gridCol w="1417761"/>
                <a:gridCol w="1031036"/>
              </a:tblGrid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Faculty_Name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Email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Designation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Dept_ID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Dr. Ravi Kumar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ravi@univ.edu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Professor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Dr. Priya Sharma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priya@univ.edu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Assoc. Professor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Dr. Arjun Rao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arjun@univ.edu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Asst. Professor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Dr. Sneha Reddy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sneha@univ.edu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Professor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8"/>
          <p:cNvSpPr/>
          <p:nvPr/>
        </p:nvSpPr>
        <p:spPr>
          <a:xfrm>
            <a:off x="5092275" y="2129946"/>
            <a:ext cx="6444196" cy="123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COURSE</a:t>
            </a:r>
            <a:endParaRPr lang="en-US" sz="7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2275" y="2291556"/>
          <a:ext cx="6444196" cy="914400"/>
        </p:xfrm>
        <a:graphic>
          <a:graphicData uri="http://schemas.openxmlformats.org/drawingml/2006/table">
            <a:tbl>
              <a:tblPr/>
              <a:tblGrid>
                <a:gridCol w="1159959"/>
                <a:gridCol w="2835478"/>
                <a:gridCol w="1159959"/>
                <a:gridCol w="1288799"/>
              </a:tblGrid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Course_Name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Credits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Dept_ID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Database Management Systems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Artificial Intelligence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Computer Networks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Machine Learning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9"/>
          <p:cNvSpPr/>
          <p:nvPr/>
        </p:nvSpPr>
        <p:spPr>
          <a:xfrm>
            <a:off x="661475" y="4188834"/>
            <a:ext cx="10868745" cy="123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TIMETABLE</a:t>
            </a:r>
            <a:endParaRPr lang="en-US" sz="750" dirty="0"/>
          </a:p>
        </p:txBody>
      </p:sp>
      <p:graphicFrame>
        <p:nvGraphicFramePr>
          <p:cNvPr id="2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364534"/>
          <a:ext cx="10868745" cy="914400"/>
        </p:xfrm>
        <a:graphic>
          <a:graphicData uri="http://schemas.openxmlformats.org/drawingml/2006/table">
            <a:tbl>
              <a:tblPr/>
              <a:tblGrid>
                <a:gridCol w="1304257"/>
                <a:gridCol w="1412929"/>
                <a:gridCol w="1304257"/>
                <a:gridCol w="1412929"/>
                <a:gridCol w="1304257"/>
                <a:gridCol w="1412929"/>
                <a:gridCol w="1304257"/>
                <a:gridCol w="1412929"/>
              </a:tblGrid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Schedule_ID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Section_ID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Start_Time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End_Time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Monday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09:00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10:00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Tuesday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10:00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11:00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303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Wednesday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09:00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10:00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Thursday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11:00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12:00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304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Friday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10:00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11:00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0"/>
          <p:cNvSpPr/>
          <p:nvPr/>
        </p:nvSpPr>
        <p:spPr>
          <a:xfrm>
            <a:off x="661475" y="5375590"/>
            <a:ext cx="10868745" cy="123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WORKLOAD</a:t>
            </a:r>
            <a:endParaRPr lang="en-US" sz="750" dirty="0"/>
          </a:p>
        </p:txBody>
      </p:sp>
      <p:graphicFrame>
        <p:nvGraphicFramePr>
          <p:cNvPr id="29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5551289"/>
          <a:ext cx="10868745" cy="914400"/>
        </p:xfrm>
        <a:graphic>
          <a:graphicData uri="http://schemas.openxmlformats.org/drawingml/2006/table">
            <a:tbl>
              <a:tblPr/>
              <a:tblGrid>
                <a:gridCol w="1956386"/>
                <a:gridCol w="1956386"/>
                <a:gridCol w="1956386"/>
                <a:gridCol w="2391072"/>
                <a:gridCol w="2608515"/>
              </a:tblGrid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Workload_ID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Course_ID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Hours_Per_Week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Semester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3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8948" marR="7894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0923"/>
            <a:ext cx="1516421" cy="176014"/>
          </a:xfrm>
          <a:prstGeom prst="roundRect">
            <a:avLst>
              <a:gd name="adj" fmla="val 7893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869730" y="757596"/>
            <a:ext cx="1848300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                 SECTION 3 OF 3       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937257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 Relationships — Comprehensive View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475" y="1412577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detailed overview of all entities and their relationships, including cardinality and key information, forming the backbone of the university database system.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61120"/>
          <a:ext cx="10868745" cy="914400"/>
        </p:xfrm>
        <a:graphic>
          <a:graphicData uri="http://schemas.openxmlformats.org/drawingml/2006/table">
            <a:tbl>
              <a:tblPr/>
              <a:tblGrid>
                <a:gridCol w="1630317"/>
                <a:gridCol w="1630317"/>
                <a:gridCol w="1630317"/>
                <a:gridCol w="1086845"/>
                <a:gridCol w="1630317"/>
                <a:gridCol w="1630317"/>
                <a:gridCol w="1630317"/>
              </a:tblGrid>
              <a:tr h="428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 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Relationship Name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 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Parent Entity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 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Child Entity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 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Cardinality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 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Parent Key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 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Child Key (FK)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  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Description</a:t>
                      </a:r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            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</a:tr>
              <a:tr h="431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DEPARTMENT-FACULTY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Department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1:N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Dept_ID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Dept_ID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One department employs many faculty members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DEPARTMENT-COURSE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Department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1:N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Dept_ID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Dept_ID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One department offers many courses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COURSE-SECTION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Section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1:N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One course has multiple sections per semester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FACULTY-TIMETABLE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Timetable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1:N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One faculty teaches multiple scheduled classes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COURSE-TIMETABLE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Timetable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1:N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One course is part of multiple timetable entries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SECTION-TIMETABLE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Section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Timetable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1:N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Section_ID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Section_ID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One section appears in multiple timetable entries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1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ROOM-TIMETABLE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Timetable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1:N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One room hosts multiple classes across the week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FACULTY-WORKLOAD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Workload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1:N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Faculty_ID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One faculty has multiple workload entries per semester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COURSE-WORKLOAD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Workload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1:N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Course_ID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One course contributes to multiple workload records</a:t>
                      </a:r>
                      <a:endParaRPr lang="en-US" sz="9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15774" marR="11577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2026-10-08T07:02:54Z</dcterms:created>
  <dcterms:modified xsi:type="dcterms:W3CDTF">2026-10-08T07:02:54Z</dcterms:modified>
</cp:coreProperties>
</file>